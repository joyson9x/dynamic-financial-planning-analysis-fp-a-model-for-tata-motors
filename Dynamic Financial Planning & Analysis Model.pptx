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  <p:embeddedFont>
      <p:font typeface="Glacial Indifferen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1" t="0" r="-227446" b="-2342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82891" y="-467618"/>
            <a:ext cx="5320241" cy="2992636"/>
          </a:xfrm>
          <a:custGeom>
            <a:avLst/>
            <a:gdLst/>
            <a:ahLst/>
            <a:cxnLst/>
            <a:rect r="r" b="b" t="t" l="l"/>
            <a:pathLst>
              <a:path h="2992636" w="5320241">
                <a:moveTo>
                  <a:pt x="0" y="0"/>
                </a:moveTo>
                <a:lnTo>
                  <a:pt x="5320241" y="0"/>
                </a:lnTo>
                <a:lnTo>
                  <a:pt x="5320241" y="2992636"/>
                </a:lnTo>
                <a:lnTo>
                  <a:pt x="0" y="299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2208" y="3967480"/>
            <a:ext cx="16943584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FINANCIAL PLANNING AND </a:t>
            </a:r>
          </a:p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3089" y="8717915"/>
            <a:ext cx="2041823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1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ate: August 3, 2025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 Joyson D’Almeida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1" t="0" r="-227446" b="-23429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71550"/>
            <a:ext cx="1623060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u="sng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</a:t>
            </a: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build a dynamic, driver-base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financial model for Tata Motors that moves beyond static forecasting to predict performance and quantify risk.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18686"/>
            <a:ext cx="16230600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u="sng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Methodology:</a:t>
            </a:r>
            <a:r>
              <a:rPr lang="en-US" sz="3200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Developed a Python-base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engine that automates data collection, uses regression modeling for predictions, and runs a 10,000-iteration Monte Carlo simulation.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28131"/>
            <a:ext cx="16230600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Findings: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Base Case Forecast: Predicted EBITDA of ₹118,599.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Probabilistic Forecast: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simulation shows a mean EBITDA of ₹118,846, with a 90% probability that the actual outcome will fall between ₹87,503 and ₹150,056.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Critical Driver: Profitability is overwhelmingly sensitive to the company's market valuation (stock price).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1" t="0" r="-227446" b="-23429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224655"/>
            <a:ext cx="16230600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</a:t>
            </a: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oblem with Traditional Forecasting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Static, single-poi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nt forecasts are a necessary part of business, but they are always wrong.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They fail to answer the most critical questions for strategic planning: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What is the full range of possible outcomes?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What is the probability of us missing our targets?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Which business risks should we focus on the most?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project was designed to answer these questions.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46683"/>
            <a:ext cx="16230600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u="sng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Recommendation:</a:t>
            </a: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Strategic efforts should be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prioritized on activities that drive core shareholder value, as this has the single largest impact on financial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1" t="0" r="-227446" b="-23429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74153"/>
            <a:ext cx="16230600" cy="728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Modern Approach: A 3-Part Engine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Data Pipeline: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model runs on real, live data, automatically fetched via a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Python script from sources like Yahoo Finance and the FRED database.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Predictive Modeling: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We used regression to establish a driver-based relationship between external factors (stock price, FX rates, commodity prices) and financial outcomes.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Modeling Note: The R-squared of 1.0 is an expected result, as it confirms the model correctly identified the linear relationships we established when creating the necessary 'proxy' financials.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&amp; Scenario Engine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This is the core of the model, which includes three key analyses: Monte Carlo, Sensitivity, and Scenario modeling.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1" t="0" r="-227446" b="-2342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744746"/>
            <a:ext cx="9719156" cy="5673557"/>
          </a:xfrm>
          <a:custGeom>
            <a:avLst/>
            <a:gdLst/>
            <a:ahLst/>
            <a:cxnLst/>
            <a:rect r="r" b="b" t="t" l="l"/>
            <a:pathLst>
              <a:path h="5673557" w="9719156">
                <a:moveTo>
                  <a:pt x="0" y="0"/>
                </a:moveTo>
                <a:lnTo>
                  <a:pt x="9719156" y="0"/>
                </a:lnTo>
                <a:lnTo>
                  <a:pt x="9719156" y="5673558"/>
                </a:lnTo>
                <a:lnTo>
                  <a:pt x="0" y="5673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71550"/>
            <a:ext cx="1623060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</a:t>
            </a: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1: The Range of Possibilities (Monte Carlo)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596505"/>
            <a:ext cx="16230600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his chart visualizes 10,000 possible futures. While the mean outcome is ₹118,846, the model gives us a 90% confidence interval of ₹87,503 to ₹150,056. This provides a realistic range for management to plan against.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1" t="0" r="-227446" b="-2342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744746"/>
            <a:ext cx="9719156" cy="5673557"/>
          </a:xfrm>
          <a:custGeom>
            <a:avLst/>
            <a:gdLst/>
            <a:ahLst/>
            <a:cxnLst/>
            <a:rect r="r" b="b" t="t" l="l"/>
            <a:pathLst>
              <a:path h="5673557" w="9719156">
                <a:moveTo>
                  <a:pt x="0" y="0"/>
                </a:moveTo>
                <a:lnTo>
                  <a:pt x="9719156" y="0"/>
                </a:lnTo>
                <a:lnTo>
                  <a:pt x="9719156" y="5673558"/>
                </a:lnTo>
                <a:lnTo>
                  <a:pt x="0" y="5673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71550"/>
            <a:ext cx="1623060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</a:t>
            </a: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2: What Matters Most (Sensitivity Analysis)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596505"/>
            <a:ext cx="16230600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Tornado Chart clearly shows that our profit is most sensitive to changes in the Tata Motors stock price, a proxy for market sentiment and core company performance. Its impact is more than 7 times greater than the next biggest factor.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1" t="0" r="-227446" b="-2342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737356"/>
            <a:ext cx="9566661" cy="5739997"/>
          </a:xfrm>
          <a:custGeom>
            <a:avLst/>
            <a:gdLst/>
            <a:ahLst/>
            <a:cxnLst/>
            <a:rect r="r" b="b" t="t" l="l"/>
            <a:pathLst>
              <a:path h="5739997" w="9566661">
                <a:moveTo>
                  <a:pt x="0" y="0"/>
                </a:moveTo>
                <a:lnTo>
                  <a:pt x="9566661" y="0"/>
                </a:lnTo>
                <a:lnTo>
                  <a:pt x="9566661" y="5739997"/>
                </a:lnTo>
                <a:lnTo>
                  <a:pt x="0" y="57399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71550"/>
            <a:ext cx="1623060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</a:t>
            </a: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3: Plausible Futures (Scenario Analysis)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596505"/>
            <a:ext cx="16230600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 modeled three distinct narratives. The analysis shows a potential downside to ₹99,532 in a 'Bear Case' (recessionary environment) but a significant upside to ₹131,862 in a 'Bull Case' with strong market growth.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1" t="0" r="-227446" b="-23429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55140"/>
            <a:ext cx="16230600" cy="671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Strategic Recommendations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Focu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on Core Valuation Drivers: Given the extreme sensitivity to the stock price, strategic capital and effort should be prioritized on activities that directly enhance sharehold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 value: innovation, market share growth, and strong investor relations.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Dynamic Budgeting: The wide range of probable outcomes suggests that a static annual budget is insufficient. The company should use this model as a foundation for a more dynamic rolling forecast system.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Hedge Asymmetric Risks: While secondary, the risk from commodity price spikes is still significant. The hedging strategy should be robust enough to protect margins in the 'Bear Case' scenario.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1" t="0" r="-227446" b="-23429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36128"/>
            <a:ext cx="16230600" cy="615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&amp; Next Steps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project demonstr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ates how a modern finance function can move beyond historical scorekeeping to become a forward-looking strategic partn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er, using data analytics to navigate uncertainty.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Logical Next Step: The next phase of this analysis would be to extend this probabilistic EBITDA forecast into a full Discounted Cash Flow (DCF) model. This would allow us to generate a probability distribution of the company's intrinsic share value, providing the ultimate tool for strategic financial management.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1" t="0" r="-227446" b="-23429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36683" y="4256185"/>
            <a:ext cx="9214634" cy="186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32"/>
              </a:lnSpc>
            </a:pPr>
            <a:r>
              <a:rPr lang="en-US" b="true" sz="1297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3783"/>
            <a:ext cx="16337976" cy="40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2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https://github.com/joyson9X/Dynamic-Financial-Planning-Analysis-FP-A-Model-for-Tata-Motors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DAGu82Ei5xQ</dc:identifier>
  <dcterms:modified xsi:type="dcterms:W3CDTF">2011-08-01T06:04:30Z</dcterms:modified>
  <cp:revision>1</cp:revision>
  <dc:title>Dynamic Financial Planning &amp; Analysis Model</dc:title>
</cp:coreProperties>
</file>